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645920"/>
            <a:ext cx="5486400" cy="5486400"/>
          </a:xfrm>
          <a:prstGeom prst="ellipse">
            <a:avLst/>
          </a:prstGeom>
          <a:solidFill>
            <a:srgbClr val="27317A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023360"/>
            <a:ext cx="3657600" cy="3657600"/>
          </a:xfrm>
          <a:prstGeom prst="ellipse">
            <a:avLst/>
          </a:prstGeom>
          <a:solidFill>
            <a:srgbClr val="27317A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3317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SALES OPERATIONS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77240" y="269748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Field App Quick Guide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822960" y="370332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Sales Engineers &amp; BD Team Members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AA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  →  MCP (Plan)  →  Field Contact Reports  →  Acknowledgment  →  Approval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ALL FITS TOGETHER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Workflow at a Glance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3017520"/>
            <a:ext cx="1188720" cy="11887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30175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60" dirty="0"/>
          </a:p>
        </p:txBody>
      </p:sp>
      <p:sp>
        <p:nvSpPr>
          <p:cNvPr id="6" name="Text 4"/>
          <p:cNvSpPr/>
          <p:nvPr/>
        </p:nvSpPr>
        <p:spPr>
          <a:xfrm>
            <a:off x="137160" y="43434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the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901952" y="3511296"/>
            <a:ext cx="237744" cy="201168"/>
          </a:xfrm>
          <a:prstGeom prst="rightArrow">
            <a:avLst/>
          </a:prstGeom>
          <a:solidFill>
            <a:srgbClr val="C6CBDA"/>
          </a:solidFill>
          <a:ln/>
        </p:spPr>
      </p:sp>
      <p:sp>
        <p:nvSpPr>
          <p:cNvPr id="8" name="Shape 6"/>
          <p:cNvSpPr/>
          <p:nvPr/>
        </p:nvSpPr>
        <p:spPr>
          <a:xfrm>
            <a:off x="2852928" y="3017520"/>
            <a:ext cx="1188720" cy="1188720"/>
          </a:xfrm>
          <a:prstGeom prst="ellipse">
            <a:avLst/>
          </a:prstGeom>
          <a:solidFill>
            <a:srgbClr val="3B4BA6"/>
          </a:solidFill>
          <a:ln/>
        </p:spPr>
      </p:sp>
      <p:sp>
        <p:nvSpPr>
          <p:cNvPr id="9" name="Text 7"/>
          <p:cNvSpPr/>
          <p:nvPr/>
        </p:nvSpPr>
        <p:spPr>
          <a:xfrm>
            <a:off x="2852928" y="30175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860" dirty="0"/>
          </a:p>
        </p:txBody>
      </p:sp>
      <p:sp>
        <p:nvSpPr>
          <p:cNvPr id="10" name="Text 8"/>
          <p:cNvSpPr/>
          <p:nvPr/>
        </p:nvSpPr>
        <p:spPr>
          <a:xfrm>
            <a:off x="2350008" y="43434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the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(MCP)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114800" y="3511296"/>
            <a:ext cx="237744" cy="201168"/>
          </a:xfrm>
          <a:prstGeom prst="rightArrow">
            <a:avLst/>
          </a:prstGeom>
          <a:solidFill>
            <a:srgbClr val="C6CBDA"/>
          </a:solidFill>
          <a:ln/>
        </p:spPr>
      </p:sp>
      <p:sp>
        <p:nvSpPr>
          <p:cNvPr id="12" name="Shape 10"/>
          <p:cNvSpPr/>
          <p:nvPr/>
        </p:nvSpPr>
        <p:spPr>
          <a:xfrm>
            <a:off x="5065776" y="3017520"/>
            <a:ext cx="1188720" cy="1188720"/>
          </a:xfrm>
          <a:prstGeom prst="ellipse">
            <a:avLst/>
          </a:prstGeom>
          <a:solidFill>
            <a:srgbClr val="5C6BC0"/>
          </a:solidFill>
          <a:ln/>
        </p:spPr>
      </p:sp>
      <p:sp>
        <p:nvSpPr>
          <p:cNvPr id="13" name="Text 11"/>
          <p:cNvSpPr/>
          <p:nvPr/>
        </p:nvSpPr>
        <p:spPr>
          <a:xfrm>
            <a:off x="5065776" y="30175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860" dirty="0"/>
          </a:p>
        </p:txBody>
      </p:sp>
      <p:sp>
        <p:nvSpPr>
          <p:cNvPr id="14" name="Text 12"/>
          <p:cNvSpPr/>
          <p:nvPr/>
        </p:nvSpPr>
        <p:spPr>
          <a:xfrm>
            <a:off x="4562856" y="43434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the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FCR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327648" y="3511296"/>
            <a:ext cx="237744" cy="201168"/>
          </a:xfrm>
          <a:prstGeom prst="rightArrow">
            <a:avLst/>
          </a:prstGeom>
          <a:solidFill>
            <a:srgbClr val="C6CBDA"/>
          </a:solidFill>
          <a:ln/>
        </p:spPr>
      </p:sp>
      <p:sp>
        <p:nvSpPr>
          <p:cNvPr id="16" name="Shape 14"/>
          <p:cNvSpPr/>
          <p:nvPr/>
        </p:nvSpPr>
        <p:spPr>
          <a:xfrm>
            <a:off x="7278624" y="3017520"/>
            <a:ext cx="1188720" cy="118872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7" name="Text 15"/>
          <p:cNvSpPr/>
          <p:nvPr/>
        </p:nvSpPr>
        <p:spPr>
          <a:xfrm>
            <a:off x="7278624" y="30175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860" dirty="0"/>
          </a:p>
        </p:txBody>
      </p:sp>
      <p:sp>
        <p:nvSpPr>
          <p:cNvPr id="18" name="Text 16"/>
          <p:cNvSpPr/>
          <p:nvPr/>
        </p:nvSpPr>
        <p:spPr>
          <a:xfrm>
            <a:off x="6775704" y="43434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Attendee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Acknowledges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540496" y="3511296"/>
            <a:ext cx="237744" cy="201168"/>
          </a:xfrm>
          <a:prstGeom prst="rightArrow">
            <a:avLst/>
          </a:prstGeom>
          <a:solidFill>
            <a:srgbClr val="C6CBDA"/>
          </a:solidFill>
          <a:ln/>
        </p:spPr>
      </p:sp>
      <p:sp>
        <p:nvSpPr>
          <p:cNvPr id="20" name="Shape 18"/>
          <p:cNvSpPr/>
          <p:nvPr/>
        </p:nvSpPr>
        <p:spPr>
          <a:xfrm>
            <a:off x="9491472" y="3017520"/>
            <a:ext cx="1188720" cy="1188720"/>
          </a:xfrm>
          <a:prstGeom prst="ellipse">
            <a:avLst/>
          </a:prstGeom>
          <a:solidFill>
            <a:srgbClr val="0F9D6B"/>
          </a:solidFill>
          <a:ln/>
        </p:spPr>
      </p:sp>
      <p:sp>
        <p:nvSpPr>
          <p:cNvPr id="21" name="Text 19"/>
          <p:cNvSpPr/>
          <p:nvPr/>
        </p:nvSpPr>
        <p:spPr>
          <a:xfrm>
            <a:off x="9491472" y="30175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860" dirty="0"/>
          </a:p>
        </p:txBody>
      </p:sp>
      <p:sp>
        <p:nvSpPr>
          <p:cNvPr id="22" name="Text 20"/>
          <p:cNvSpPr/>
          <p:nvPr/>
        </p:nvSpPr>
        <p:spPr>
          <a:xfrm>
            <a:off x="8988552" y="43434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→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PDF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22960" y="50292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Sales Engineer and BD Team member follows the same five steps for each customer visit. The system won't let an FCR export as a PDF until the attendee has acknowledged it and it's been approved.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1368735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Sales Operations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 · SIGN 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Dashboard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53949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✦"/>
            </a:pPr>
            <a:r>
              <a:rPr lang="en-US" sz="1500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your home screen — everything is scoped to your own accounts, plans, and reports.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✦"/>
            </a:pPr>
            <a:r>
              <a:rPr lang="en-US" sz="1500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Actions let you jump straight into a new Account or a new FCR.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✦"/>
            </a:pPr>
            <a:r>
              <a:rPr lang="en-US" sz="1500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 activity and open follow-ups surface here so nothing slips through the cracks.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✦"/>
            </a:pPr>
            <a:r>
              <a:rPr lang="en-US" sz="1500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sidebar (or menu icon on mobile) is how you get to Accounts, MCP (Plan), FCR, and MCP (Actual).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955487" y="1551508"/>
            <a:ext cx="5797296" cy="4212183"/>
          </a:xfrm>
          <a:prstGeom prst="roundRect">
            <a:avLst>
              <a:gd name="adj" fmla="val 2171"/>
            </a:avLst>
          </a:prstGeom>
          <a:solidFill>
            <a:srgbClr val="FFFFFF"/>
          </a:solidFill>
          <a:ln w="12700">
            <a:solidFill>
              <a:srgbClr val="D6DAE8"/>
            </a:solidFill>
            <a:prstDash val="solid"/>
          </a:ln>
        </p:spPr>
      </p:sp>
      <p:pic>
        <p:nvPicPr>
          <p:cNvPr id="6" name="Image 0" descr="/sessions/lucid-bold-fermi/mnt/outputs/screenshot-1785056456384-ed7382e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65215" y="1661236"/>
            <a:ext cx="5577840" cy="399272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368735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Sales Operations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· ACCOUNTS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Profile the Account First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53949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✦"/>
            </a:pPr>
            <a:r>
              <a:rPr lang="en-US" sz="1500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— SE, BD, or NSM — can add a new Account.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✦"/>
            </a:pPr>
            <a:r>
              <a:rPr lang="en-US" sz="1500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Account must have its Trade Terms profile completed before it shows up in the FCR account dropdown.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✦"/>
            </a:pPr>
            <a:r>
              <a:rPr lang="en-US" sz="1500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ASE/TSE field is a dropdown of active Sales Engineers only, used to assign coverage.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✦"/>
            </a:pPr>
            <a:r>
              <a:rPr lang="en-US" sz="1500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profiled, an Account's info auto-fills every FCR filed against it — no retyping company details.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955487" y="1551508"/>
            <a:ext cx="5797296" cy="4212183"/>
          </a:xfrm>
          <a:prstGeom prst="roundRect">
            <a:avLst>
              <a:gd name="adj" fmla="val 2171"/>
            </a:avLst>
          </a:prstGeom>
          <a:solidFill>
            <a:srgbClr val="FFFFFF"/>
          </a:solidFill>
          <a:ln w="12700">
            <a:solidFill>
              <a:srgbClr val="D6DAE8"/>
            </a:solidFill>
            <a:prstDash val="solid"/>
          </a:ln>
        </p:spPr>
      </p:sp>
      <p:pic>
        <p:nvPicPr>
          <p:cNvPr id="6" name="Image 0" descr="/sessions/lucid-bold-fermi/mnt/outputs/screenshot-1785056483340-349a3b8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65215" y="1661236"/>
            <a:ext cx="5577840" cy="399272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368735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Sales Operations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· MCP (PLAN)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Your Monthly Coverage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53949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✦"/>
            </a:pPr>
            <a:r>
              <a:rPr lang="en-US" sz="1500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(Plan) is your proposed visit schedule for the month, laid out on a calendar.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✦"/>
            </a:pPr>
            <a:r>
              <a:rPr lang="en-US" sz="1500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plans are approved by the NSM; BD plans are approved by the Commercial AC Head.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✦"/>
            </a:pPr>
            <a:r>
              <a:rPr lang="en-US" sz="1500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approved, an itinerary visit can auto-draft its matching FCR for you.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✦"/>
            </a:pPr>
            <a:r>
              <a:rPr lang="en-US" sz="1500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it as the "what I intend to do" — MCP (Actual) later shows "what really happened."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955487" y="1551508"/>
            <a:ext cx="5797296" cy="4212183"/>
          </a:xfrm>
          <a:prstGeom prst="roundRect">
            <a:avLst>
              <a:gd name="adj" fmla="val 2171"/>
            </a:avLst>
          </a:prstGeom>
          <a:solidFill>
            <a:srgbClr val="FFFFFF"/>
          </a:solidFill>
          <a:ln w="12700">
            <a:solidFill>
              <a:srgbClr val="D6DAE8"/>
            </a:solidFill>
            <a:prstDash val="solid"/>
          </a:ln>
        </p:spPr>
      </p:sp>
      <p:pic>
        <p:nvPicPr>
          <p:cNvPr id="6" name="Image 0" descr="/sessions/lucid-bold-fermi/mnt/outputs/screenshot-1785056494181-4e6b169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65215" y="1661236"/>
            <a:ext cx="5577840" cy="399272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368735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Sales Operations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· FIELD CONTACT REPORT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Filing an FCR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53949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✦"/>
            </a:pPr>
            <a:r>
              <a:rPr lang="en-US" sz="1500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profiled Account — Customer Information auto-fills and is read-only.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✦"/>
            </a:pPr>
            <a:r>
              <a:rPr lang="en-US" sz="1500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in your discussion summary, coverage notes, and any get-back / action items.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✦"/>
            </a:pPr>
            <a:r>
              <a:rPr lang="en-US" sz="1500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and BD team members can create FCRs. (The NSM reviews and approves instead of filing their own.)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✦"/>
            </a:pPr>
            <a:r>
              <a:rPr lang="en-US" sz="1500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field you enter here becomes the Minutes of the Meeting the attendee reviews next.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955487" y="1551508"/>
            <a:ext cx="5797296" cy="4212183"/>
          </a:xfrm>
          <a:prstGeom prst="roundRect">
            <a:avLst>
              <a:gd name="adj" fmla="val 2171"/>
            </a:avLst>
          </a:prstGeom>
          <a:solidFill>
            <a:srgbClr val="FFFFFF"/>
          </a:solidFill>
          <a:ln w="12700">
            <a:solidFill>
              <a:srgbClr val="D6DAE8"/>
            </a:solidFill>
            <a:prstDash val="solid"/>
          </a:ln>
        </p:spPr>
      </p:sp>
      <p:pic>
        <p:nvPicPr>
          <p:cNvPr id="6" name="Image 0" descr="/sessions/lucid-bold-fermi/mnt/outputs/screenshot-1785056543635-4bcb64b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65215" y="1661236"/>
            <a:ext cx="5577840" cy="399272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368735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Sales Operations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· ACKNOWLEDGMENT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Send for Acknowledgment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53949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✦"/>
            </a:pPr>
            <a:r>
              <a:rPr lang="en-US" sz="1500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attendee's name and email, then click "Send Acknowledgment Request."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✦"/>
            </a:pPr>
            <a:r>
              <a:rPr lang="en-US" sz="1500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attendee gets an email with the minutes and a one-click confirm button — no login needed.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✦"/>
            </a:pPr>
            <a:r>
              <a:rPr lang="en-US" sz="1500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step is required: an FCR cannot be exported as a PDF until it's acknowledged and approved.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✦"/>
            </a:pPr>
            <a:r>
              <a:rPr lang="en-US" sz="1500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resend the request any time from the same screen if needed.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955487" y="1551508"/>
            <a:ext cx="5797296" cy="4212183"/>
          </a:xfrm>
          <a:prstGeom prst="roundRect">
            <a:avLst>
              <a:gd name="adj" fmla="val 2171"/>
            </a:avLst>
          </a:prstGeom>
          <a:solidFill>
            <a:srgbClr val="FFFFFF"/>
          </a:solidFill>
          <a:ln w="12700">
            <a:solidFill>
              <a:srgbClr val="D6DAE8"/>
            </a:solidFill>
            <a:prstDash val="solid"/>
          </a:ln>
        </p:spPr>
      </p:sp>
      <p:pic>
        <p:nvPicPr>
          <p:cNvPr id="6" name="Image 0" descr="/sessions/lucid-bold-fermi/mnt/outputs/screenshot-1785056783792-547fd77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65215" y="1661236"/>
            <a:ext cx="5577840" cy="399272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368735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Sales Operations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· ACKNOWLEDGMENT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Attendee Confirms → Auto-Submitted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53949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✦"/>
            </a:pPr>
            <a:r>
              <a:rPr lang="en-US" sz="1500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attendee sees a clean, read-only summary of the visit and an optional comment box — they can add a note or just leave it blank.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✦"/>
            </a:pPr>
            <a:r>
              <a:rPr lang="en-US" sz="1500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moment they tap "Confirm Meeting Happened," your FCR is automatically submitted for approval — nothing more to do.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✦"/>
            </a:pPr>
            <a:r>
              <a:rPr lang="en-US" sz="1500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reports route to the NSM; BD reports route to the Commercial AC Head.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✦"/>
            </a:pPr>
            <a:r>
              <a:rPr lang="en-US" sz="1500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they left a comment, it shows up on your FCR's Account Acknowledgment card — no separate email or message to check.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12687" y="1715145"/>
            <a:ext cx="5340096" cy="3884911"/>
          </a:xfrm>
          <a:prstGeom prst="roundRect">
            <a:avLst>
              <a:gd name="adj" fmla="val 2354"/>
            </a:avLst>
          </a:prstGeom>
          <a:solidFill>
            <a:srgbClr val="FFFFFF"/>
          </a:solidFill>
          <a:ln w="12700">
            <a:solidFill>
              <a:srgbClr val="D6DAE8"/>
            </a:solidFill>
            <a:prstDash val="solid"/>
          </a:ln>
        </p:spPr>
      </p:sp>
      <p:pic>
        <p:nvPicPr>
          <p:cNvPr id="6" name="Image 0" descr="/sessions/lucid-bold-fermi/mnt/outputs/screenshot-1785059060225-26a10fd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824873"/>
            <a:ext cx="5120640" cy="366545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368735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Sales Operations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 · APPROVAL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Approved → Export as PDF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53949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✦"/>
            </a:pPr>
            <a:r>
              <a:rPr lang="en-US" sz="1500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your approver signs off, the FCR becomes read-only and locked in.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✦"/>
            </a:pPr>
            <a:r>
              <a:rPr lang="en-US" sz="1500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"Export PDF" button — greyed out until now — unlocks automatically.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✦"/>
            </a:pPr>
            <a:r>
              <a:rPr lang="en-US" sz="1500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FCR list shows both badges at a glance: Approved, and Minutes Acknowledged.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✦"/>
            </a:pPr>
            <a:r>
              <a:rPr lang="en-US" sz="1500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PDF is your official, attendee-confirmed record of the visit.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955487" y="1551508"/>
            <a:ext cx="5797296" cy="4212183"/>
          </a:xfrm>
          <a:prstGeom prst="roundRect">
            <a:avLst>
              <a:gd name="adj" fmla="val 2171"/>
            </a:avLst>
          </a:prstGeom>
          <a:solidFill>
            <a:srgbClr val="FFFFFF"/>
          </a:solidFill>
          <a:ln w="12700">
            <a:solidFill>
              <a:srgbClr val="D6DAE8"/>
            </a:solidFill>
            <a:prstDash val="solid"/>
          </a:ln>
        </p:spPr>
      </p:sp>
      <p:pic>
        <p:nvPicPr>
          <p:cNvPr id="6" name="Image 0" descr="/sessions/lucid-bold-fermi/mnt/outputs/screenshot-1785056893245-9572944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65215" y="1661236"/>
            <a:ext cx="5577840" cy="399272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368735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Sales Operations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 · MCP (ACTUAL)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What Really Happened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53949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✦"/>
            </a:pPr>
            <a:r>
              <a:rPr lang="en-US" sz="1500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(Actual) is automatically built from your acknowledged FCRs for the month.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✦"/>
            </a:pPr>
            <a:r>
              <a:rPr lang="en-US" sz="1500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a calendar view of every visit that's actually been confirmed by an attendee.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✦"/>
            </a:pPr>
            <a:r>
              <a:rPr lang="en-US" sz="1500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"Generate &amp; Export PDF" for a shareable monthly summary.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✦"/>
            </a:pPr>
            <a:r>
              <a:rPr lang="en-US" sz="1500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months are kept in the Archive for reference.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955487" y="1551508"/>
            <a:ext cx="5797296" cy="4212183"/>
          </a:xfrm>
          <a:prstGeom prst="roundRect">
            <a:avLst>
              <a:gd name="adj" fmla="val 2171"/>
            </a:avLst>
          </a:prstGeom>
          <a:solidFill>
            <a:srgbClr val="FFFFFF"/>
          </a:solidFill>
          <a:ln w="12700">
            <a:solidFill>
              <a:srgbClr val="D6DAE8"/>
            </a:solidFill>
            <a:prstDash val="solid"/>
          </a:ln>
        </p:spPr>
      </p:sp>
      <p:pic>
        <p:nvPicPr>
          <p:cNvPr id="6" name="Image 0" descr="/sessions/lucid-bold-fermi/mnt/outputs/screenshot-1785056907525-4c3d3e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65215" y="1661236"/>
            <a:ext cx="5577840" cy="399272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368735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Sales Operations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THIS HANDY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Reference Cheat Sheet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0332720" cy="4023360"/>
        </p:xfrm>
        <a:graphic>
          <a:graphicData uri="http://schemas.openxmlformats.org/drawingml/2006/table">
            <a:tbl>
              <a:tblPr/>
              <a:tblGrid>
                <a:gridCol w="4572000"/>
                <a:gridCol w="2880360"/>
                <a:gridCol w="2880360"/>
              </a:tblGrid>
              <a:tr h="57476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Sales Engineer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BD Team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7476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 / profile an Account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A"/>
                    </a:solidFill>
                  </a:tcPr>
                </a:tc>
              </a:tr>
              <a:tr h="57476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 an MCP (Plan)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476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 an FCR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A"/>
                    </a:solidFill>
                  </a:tcPr>
                </a:tc>
              </a:tr>
              <a:tr h="57476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 approves your MCP (Plan)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NSM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Commercial AC Head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476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 approves your FCR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NSM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Commercial AC Head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A"/>
                    </a:solidFill>
                  </a:tcPr>
                </a:tc>
              </a:tr>
              <a:tr h="57476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Export FCR as PDF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 acknowledgment + approval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 acknowledgment + approval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98932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badges: Draft  ·  Awaiting Acknowledgment  ·  Minutes Acknowledged  ·  Pending Approval  ·  Approved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Sales Operations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solidFill>
            <a:srgbClr val="27317A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1887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77240" y="15087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We're here to help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743200"/>
            <a:ext cx="5029200" cy="2377440"/>
          </a:xfrm>
          <a:prstGeom prst="roundRect">
            <a:avLst>
              <a:gd name="adj" fmla="val 3077"/>
            </a:avLst>
          </a:prstGeom>
          <a:solidFill>
            <a:srgbClr val="27317A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30175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SALES ENGINEERS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43000" y="338328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Jamaica Linsangan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143000" y="3977640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3C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out if you notice inconsistencies or have feedback about an SE's visit.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09360" y="2743200"/>
            <a:ext cx="5029200" cy="2377440"/>
          </a:xfrm>
          <a:prstGeom prst="roundRect">
            <a:avLst>
              <a:gd name="adj" fmla="val 3077"/>
            </a:avLst>
          </a:prstGeom>
          <a:solidFill>
            <a:srgbClr val="27317A"/>
          </a:solidFill>
          <a:ln/>
        </p:spPr>
      </p:sp>
      <p:sp>
        <p:nvSpPr>
          <p:cNvPr id="10" name="Text 8"/>
          <p:cNvSpPr/>
          <p:nvPr/>
        </p:nvSpPr>
        <p:spPr>
          <a:xfrm>
            <a:off x="6629400" y="30175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 TEAM MEMBERS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629400" y="338328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Ronald Acedillo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629400" y="3977640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3C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out if you notice inconsistencies or have feedback about a BD visit.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2960" y="55778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escalation note also appears automatically in every acknowledgment email sent to your attendees.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2026-07-26T09:44:57Z</dcterms:created>
  <dcterms:modified xsi:type="dcterms:W3CDTF">2026-07-26T09:44:57Z</dcterms:modified>
</cp:coreProperties>
</file>